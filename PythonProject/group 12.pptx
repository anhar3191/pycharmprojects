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>
        <p:scale>
          <a:sx n="45" d="100"/>
          <a:sy n="45" d="100"/>
        </p:scale>
        <p:origin x="165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76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0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39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14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4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49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0207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80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6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37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84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4A96B-9275-4DE5-8064-21ECB44F0512}" type="datetimeFigureOut">
              <a:rPr lang="en-UG" smtClean="0"/>
              <a:t>16/06/2026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1980287-C89D-43B7-AE95-F42452A840C1}" type="slidenum">
              <a:rPr lang="en-UG" smtClean="0"/>
              <a:t>‹#›</a:t>
            </a:fld>
            <a:endParaRPr lang="en-UG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26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lossarissimo.wordpress.com/2013/02/22/en-glossary-of-electric-motor-terms-reliance-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flickr.com/photos/coachrobbo/2712161775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04A6-6490-6FDE-D533-937407427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Magnetic Forces Fields &amp; Faraday’s Law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0F1FB-9C88-34DA-3C5F-88F321694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Physics 2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4975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3DE5-6C6E-3474-A063-1EFE0637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Magnetism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8343-B595-B2E3-4BDF-486C16571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Magnetism= from moving electric charges (electrons)</a:t>
            </a:r>
          </a:p>
          <a:p>
            <a:r>
              <a:rPr lang="en-US" dirty="0"/>
              <a:t>Every magnet has North &amp; South poles (like repel, unlike attract)</a:t>
            </a:r>
          </a:p>
          <a:p>
            <a:r>
              <a:rPr lang="en-US" dirty="0"/>
              <a:t>Poles cannot be isolated </a:t>
            </a:r>
          </a:p>
          <a:p>
            <a:r>
              <a:rPr lang="en-US" dirty="0"/>
              <a:t>Earth is a giant magnet </a:t>
            </a:r>
            <a:endParaRPr lang="en-UG" dirty="0"/>
          </a:p>
        </p:txBody>
      </p:sp>
      <p:pic>
        <p:nvPicPr>
          <p:cNvPr id="4" name="Picture 3" descr="Earth's Magnetic Poles and Magnetism">
            <a:extLst>
              <a:ext uri="{FF2B5EF4-FFF2-40B4-BE49-F238E27FC236}">
                <a16:creationId xmlns:a16="http://schemas.microsoft.com/office/drawing/2014/main" id="{BCB95C83-656A-C601-4421-75C5A2E0C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14" y="3106057"/>
            <a:ext cx="477338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2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30C3-D962-3ACB-ABFE-1D5CBCED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Force on charge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F5D87-3124-ADA4-6DB1-9A79A2F43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Only acts on moving charges </a:t>
                </a:r>
              </a:p>
              <a:p>
                <a:r>
                  <a:rPr lang="en-UG" dirty="0"/>
                  <a:t>A </a:t>
                </a:r>
                <a:r>
                  <a:rPr lang="en-UG" b="1" dirty="0"/>
                  <a:t>moving charged particle</a:t>
                </a:r>
                <a:r>
                  <a:rPr lang="en-UG" dirty="0"/>
                  <a:t> experiences a force when it enters a magnetic field. This force is called the </a:t>
                </a:r>
                <a:r>
                  <a:rPr lang="en-UG" b="1" dirty="0"/>
                  <a:t>magnetic force</a:t>
                </a:r>
                <a:r>
                  <a:rPr lang="en-UG" dirty="0"/>
                  <a:t> or </a:t>
                </a:r>
                <a:r>
                  <a:rPr lang="en-UG" b="1" dirty="0"/>
                  <a:t>Lorentz force</a:t>
                </a:r>
                <a:r>
                  <a:rPr lang="en-UG" dirty="0"/>
                  <a:t>.</a:t>
                </a:r>
              </a:p>
              <a:p>
                <a:r>
                  <a:rPr lang="en-UG" b="1" dirty="0"/>
                  <a:t>Formula</a:t>
                </a:r>
              </a:p>
              <a:p>
                <a14:m>
                  <m:oMath xmlns:m="http://schemas.openxmlformats.org/officeDocument/2006/math">
                    <m:r>
                      <a:rPr lang="en-UG" i="1"/>
                      <m:t>𝐹</m:t>
                    </m:r>
                    <m:r>
                      <a:rPr lang="en-UG"/>
                      <m:t>=</m:t>
                    </m:r>
                    <m:r>
                      <a:rPr lang="en-UG" i="1"/>
                      <m:t>𝑞𝑣𝐵</m:t>
                    </m:r>
                    <m:func>
                      <m:funcPr>
                        <m:ctrlPr>
                          <a:rPr lang="en-UG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G"/>
                          <m:t>sin</m:t>
                        </m:r>
                      </m:fName>
                      <m:e>
                        <m:r>
                          <a:rPr lang="en-UG" i="1"/>
                          <m:t>𝜃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Magnetic force does NO work ( perpendicular to velocity)</a:t>
                </a:r>
                <a:endParaRPr lang="en-U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F5D87-3124-ADA4-6DB1-9A79A2F43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77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07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86E7-FC5E-071C-91C6-BA544785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Right- Hand Rule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AE1900-0C6C-1ECA-C144-A6ED54DBA3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853755"/>
                <a:ext cx="9603275" cy="4199726"/>
              </a:xfrm>
            </p:spPr>
            <p:txBody>
              <a:bodyPr>
                <a:noAutofit/>
              </a:bodyPr>
              <a:lstStyle/>
              <a:p>
                <a:r>
                  <a:rPr lang="en-US" sz="1000" dirty="0"/>
                  <a:t>Direction: </a:t>
                </a:r>
              </a:p>
              <a:p>
                <a:pPr marL="0" indent="0">
                  <a:buNone/>
                </a:pPr>
                <a:r>
                  <a:rPr lang="en-US" sz="1000" dirty="0"/>
                  <a:t>Thumb = velocity (v) </a:t>
                </a:r>
              </a:p>
              <a:p>
                <a:pPr marL="0" indent="0">
                  <a:buNone/>
                </a:pPr>
                <a:r>
                  <a:rPr lang="en-US" sz="1000" dirty="0"/>
                  <a:t>Fingers curl = magnetic field (B)</a:t>
                </a:r>
              </a:p>
              <a:p>
                <a:pPr marL="0" indent="0">
                  <a:buNone/>
                </a:pPr>
                <a:r>
                  <a:rPr lang="en-US" sz="1000" dirty="0"/>
                  <a:t>Thumb = force (positive charge )</a:t>
                </a:r>
              </a:p>
              <a:p>
                <a:pPr marL="0" indent="0">
                  <a:buNone/>
                </a:pPr>
                <a:r>
                  <a:rPr lang="en-US" sz="1000" dirty="0"/>
                  <a:t> .Negative charge    opposite direction</a:t>
                </a:r>
              </a:p>
              <a:p>
                <a:r>
                  <a:rPr lang="en-UG" sz="1000" b="1" dirty="0"/>
                  <a:t>Example</a:t>
                </a:r>
              </a:p>
              <a:p>
                <a:r>
                  <a:rPr lang="en-UG" sz="1000" dirty="0"/>
                  <a:t>A positive charge moves:</a:t>
                </a:r>
              </a:p>
              <a:p>
                <a:r>
                  <a:rPr lang="en-UG" sz="1000" dirty="0"/>
                  <a:t>East (</a:t>
                </a:r>
                <a14:m>
                  <m:oMath xmlns:m="http://schemas.openxmlformats.org/officeDocument/2006/math">
                    <m:r>
                      <a:rPr lang="en-UG" sz="1000" i="1"/>
                      <m:t>𝑣</m:t>
                    </m:r>
                  </m:oMath>
                </a14:m>
                <a:r>
                  <a:rPr lang="en-UG" sz="1000" dirty="0"/>
                  <a:t>) </a:t>
                </a:r>
              </a:p>
              <a:p>
                <a:r>
                  <a:rPr lang="en-UG" sz="1000" dirty="0"/>
                  <a:t>In a magnetic field directed North (</a:t>
                </a:r>
                <a14:m>
                  <m:oMath xmlns:m="http://schemas.openxmlformats.org/officeDocument/2006/math">
                    <m:r>
                      <a:rPr lang="en-UG" sz="1000" i="1"/>
                      <m:t>𝐵</m:t>
                    </m:r>
                  </m:oMath>
                </a14:m>
                <a:r>
                  <a:rPr lang="en-UG" sz="1000" dirty="0"/>
                  <a:t>) </a:t>
                </a:r>
              </a:p>
              <a:p>
                <a:r>
                  <a:rPr lang="en-UG" sz="1000" dirty="0"/>
                  <a:t>Using the right-hand rule:</a:t>
                </a:r>
              </a:p>
              <a:p>
                <a:r>
                  <a:rPr lang="en-UG" sz="1000" dirty="0"/>
                  <a:t>Fingers → East </a:t>
                </a:r>
              </a:p>
              <a:p>
                <a:r>
                  <a:rPr lang="en-UG" sz="1000" dirty="0"/>
                  <a:t>Curl toward North </a:t>
                </a:r>
              </a:p>
              <a:p>
                <a:r>
                  <a:rPr lang="en-UG" sz="1000" dirty="0"/>
                  <a:t>Thumb → Upward </a:t>
                </a:r>
              </a:p>
              <a:p>
                <a:r>
                  <a:rPr lang="en-UG" sz="1000" b="1" dirty="0"/>
                  <a:t>Result:</a:t>
                </a:r>
                <a:r>
                  <a:rPr lang="en-UG" sz="1000" dirty="0"/>
                  <a:t> The magnetic force acts </a:t>
                </a:r>
                <a:r>
                  <a:rPr lang="en-UG" sz="1000" b="1" dirty="0"/>
                  <a:t>upward</a:t>
                </a:r>
                <a:r>
                  <a:rPr lang="en-UG" sz="1000" dirty="0"/>
                  <a:t>.</a:t>
                </a:r>
                <a:endParaRPr lang="en-US" sz="1000" dirty="0"/>
              </a:p>
              <a:p>
                <a:pPr marL="0" indent="0">
                  <a:buNone/>
                </a:pPr>
                <a:r>
                  <a:rPr lang="en-US" sz="1000" dirty="0"/>
                  <a:t> </a:t>
                </a:r>
                <a:endParaRPr lang="en-UG" sz="1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AE1900-0C6C-1ECA-C144-A6ED54DBA3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853755"/>
                <a:ext cx="9603275" cy="4199726"/>
              </a:xfrm>
              <a:blipFill>
                <a:blip r:embed="rId2"/>
                <a:stretch>
                  <a:fillRect b="-2903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Biot-Savart's Law versus $B=\left(\frac{\mu_0}{2\pi}\right)\frac{I}{r}$ for Magnetic Field of a Wire - Physics Stack Exchange">
            <a:extLst>
              <a:ext uri="{FF2B5EF4-FFF2-40B4-BE49-F238E27FC236}">
                <a16:creationId xmlns:a16="http://schemas.microsoft.com/office/drawing/2014/main" id="{E2D6245B-2293-B1AE-2D51-A041D6A68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229" y="2121505"/>
            <a:ext cx="3470728" cy="384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7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C65B-FC13-5122-9738-9DB34AFE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Charged Particle in B Field 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4A78C8-9D1F-2939-AE65-A32E24E533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G" dirty="0"/>
                  <a:t>When a </a:t>
                </a:r>
                <a:r>
                  <a:rPr lang="en-UG" b="1" dirty="0"/>
                  <a:t>charged particle</a:t>
                </a:r>
                <a:r>
                  <a:rPr lang="en-UG" dirty="0"/>
                  <a:t> (like an electron or proton) moves in a magnetic field, it experiences a force called the </a:t>
                </a:r>
                <a:r>
                  <a:rPr lang="en-UG" b="1" dirty="0"/>
                  <a:t>magnetic Lorentz force</a:t>
                </a:r>
                <a:r>
                  <a:rPr lang="en-UG" dirty="0"/>
                  <a:t>. This force changes the direction of motion of the particle.</a:t>
                </a:r>
              </a:p>
              <a:p>
                <a:r>
                  <a:rPr lang="en-UG" b="1" dirty="0"/>
                  <a:t>Magnetic Force (Lorentz Force)</a:t>
                </a:r>
              </a:p>
              <a:p>
                <a14:m>
                  <m:oMath xmlns:m="http://schemas.openxmlformats.org/officeDocument/2006/math">
                    <m:r>
                      <a:rPr lang="en-UG" i="1"/>
                      <m:t>𝐹</m:t>
                    </m:r>
                    <m:r>
                      <a:rPr lang="en-UG"/>
                      <m:t>=</m:t>
                    </m:r>
                    <m:r>
                      <a:rPr lang="en-UG" i="1"/>
                      <m:t>𝑞𝑣𝐵</m:t>
                    </m:r>
                    <m:func>
                      <m:funcPr>
                        <m:ctrlPr>
                          <a:rPr lang="en-UG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G"/>
                          <m:t>sin</m:t>
                        </m:r>
                      </m:fName>
                      <m:e>
                        <m:r>
                          <a:rPr lang="en-UG" i="1"/>
                          <m:t>𝜃</m:t>
                        </m:r>
                      </m:e>
                    </m:func>
                  </m:oMath>
                </a14:m>
                <a:endParaRPr lang="en-UG" dirty="0"/>
              </a:p>
              <a:p>
                <a:pPr marL="0" indent="0">
                  <a:buNone/>
                </a:pPr>
                <a:endParaRPr lang="en-UG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4A78C8-9D1F-2939-AE65-A32E24E53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77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ebuah elektron bergerak sejajar sumbu X positif, ...">
            <a:extLst>
              <a:ext uri="{FF2B5EF4-FFF2-40B4-BE49-F238E27FC236}">
                <a16:creationId xmlns:a16="http://schemas.microsoft.com/office/drawing/2014/main" id="{EEC2DDB4-CB05-2331-320E-05DF1826C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142" y="3062514"/>
            <a:ext cx="5671144" cy="294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0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895A-5357-0984-7F10-7E3CDAA8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7336" cy="1049147"/>
          </a:xfrm>
        </p:spPr>
        <p:txBody>
          <a:bodyPr/>
          <a:lstStyle/>
          <a:p>
            <a:r>
              <a:rPr lang="en-US" dirty="0"/>
              <a:t>Magnetic Field from Currents</a:t>
            </a:r>
            <a:endParaRPr lang="en-UG" dirty="0"/>
          </a:p>
        </p:txBody>
      </p:sp>
      <p:pic>
        <p:nvPicPr>
          <p:cNvPr id="3" name="Picture 2" descr="Magnetic fields of currents">
            <a:extLst>
              <a:ext uri="{FF2B5EF4-FFF2-40B4-BE49-F238E27FC236}">
                <a16:creationId xmlns:a16="http://schemas.microsoft.com/office/drawing/2014/main" id="{CB191E10-B530-14AE-EBF1-255CC78F8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274" y="3429000"/>
            <a:ext cx="3171416" cy="24778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4E1449-044D-283C-F6F2-E9B2C077FF2B}"/>
              </a:ext>
            </a:extLst>
          </p:cNvPr>
          <p:cNvSpPr txBox="1"/>
          <p:nvPr/>
        </p:nvSpPr>
        <p:spPr>
          <a:xfrm>
            <a:off x="1451578" y="2015731"/>
            <a:ext cx="98431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G" dirty="0"/>
              <a:t>A moving electric charge creates a magnetic field. Therefore, whenever an electric current flows through a conductor, a magnetic field is produced around it.</a:t>
            </a:r>
          </a:p>
          <a:p>
            <a:pPr>
              <a:buNone/>
            </a:pPr>
            <a:r>
              <a:rPr lang="en-UG" b="1" dirty="0"/>
              <a:t>Magnetic Field Around a Straight Wire</a:t>
            </a:r>
          </a:p>
          <a:p>
            <a:pPr>
              <a:buNone/>
            </a:pPr>
            <a:r>
              <a:rPr lang="en-UG" dirty="0"/>
              <a:t>When current flows through a straight wire, the magnetic field forms concentric circles around the wire.</a:t>
            </a:r>
            <a:endParaRPr lang="en-US" dirty="0"/>
          </a:p>
          <a:p>
            <a:r>
              <a:rPr lang="en-UG" b="1" dirty="0"/>
              <a:t>Magnetic Field Inside a Solenoid</a:t>
            </a:r>
          </a:p>
          <a:p>
            <a:r>
              <a:rPr lang="en-UG" dirty="0"/>
              <a:t>A solenoid is a long coil of wire carrying current</a:t>
            </a:r>
          </a:p>
          <a:p>
            <a:pPr>
              <a:buNone/>
            </a:pPr>
            <a:endParaRPr lang="en-UG" dirty="0"/>
          </a:p>
        </p:txBody>
      </p:sp>
      <p:pic>
        <p:nvPicPr>
          <p:cNvPr id="8" name="Picture 7" descr="Magnetic Effects of Electric Current Syllabus — CBSE 10 | Super Tutor">
            <a:extLst>
              <a:ext uri="{FF2B5EF4-FFF2-40B4-BE49-F238E27FC236}">
                <a16:creationId xmlns:a16="http://schemas.microsoft.com/office/drawing/2014/main" id="{1D78657F-98A1-9D07-315C-59D00E5F6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07554"/>
            <a:ext cx="7240582" cy="169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87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A39C-6EC1-C58E-434C-D35EEC16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11877"/>
            <a:ext cx="9603275" cy="1049235"/>
          </a:xfrm>
        </p:spPr>
        <p:txBody>
          <a:bodyPr/>
          <a:lstStyle/>
          <a:p>
            <a:r>
              <a:rPr lang="en-US" dirty="0"/>
              <a:t>Force Between Two Currents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CA97-04C3-E7ED-DB81-3C5588A6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986704"/>
            <a:ext cx="9603275" cy="3760953"/>
          </a:xfrm>
        </p:spPr>
        <p:txBody>
          <a:bodyPr/>
          <a:lstStyle/>
          <a:p>
            <a:pPr marL="0" indent="0">
              <a:buNone/>
            </a:pPr>
            <a:endParaRPr lang="en-UG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C588DB5-1F15-9425-D0E4-B849425C1CF5}"/>
                  </a:ext>
                </a:extLst>
              </p:cNvPr>
              <p:cNvSpPr txBox="1"/>
              <p:nvPr/>
            </p:nvSpPr>
            <p:spPr>
              <a:xfrm>
                <a:off x="1294362" y="1861111"/>
                <a:ext cx="7860523" cy="2826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G" dirty="0"/>
                  <a:t>When two parallel wires carry electric currents, each wire creates a magnetic field that exerts a force on the other wire.</a:t>
                </a:r>
              </a:p>
              <a:p>
                <a:pPr>
                  <a:buNone/>
                </a:pPr>
                <a:r>
                  <a:rPr lang="en-UG" b="1" dirty="0"/>
                  <a:t>Direction of the Force</a:t>
                </a:r>
                <a:endParaRPr lang="en-US" b="1" dirty="0"/>
              </a:p>
              <a:p>
                <a:r>
                  <a:rPr lang="en-UG" b="1" dirty="0"/>
                  <a:t>Currents in the same direction</a:t>
                </a:r>
                <a:r>
                  <a:rPr lang="en-UG" dirty="0"/>
                  <a:t> → </a:t>
                </a:r>
                <a:r>
                  <a:rPr lang="en-UG" b="1" dirty="0"/>
                  <a:t>Attract each other</a:t>
                </a:r>
                <a:r>
                  <a:rPr lang="en-UG" dirty="0"/>
                  <a:t> </a:t>
                </a:r>
              </a:p>
              <a:p>
                <a:r>
                  <a:rPr lang="en-UG" b="1" dirty="0"/>
                  <a:t>Currents in opposite directions</a:t>
                </a:r>
                <a:r>
                  <a:rPr lang="en-UG" dirty="0"/>
                  <a:t> → </a:t>
                </a:r>
                <a:r>
                  <a:rPr lang="en-UG" b="1" dirty="0"/>
                  <a:t>Repel each other</a:t>
                </a:r>
                <a:r>
                  <a:rPr lang="en-UG" dirty="0"/>
                  <a:t> </a:t>
                </a:r>
              </a:p>
              <a:p>
                <a:r>
                  <a:rPr lang="en-UG" b="1" dirty="0"/>
                  <a:t>Formula</a:t>
                </a:r>
              </a:p>
              <a:p>
                <a:r>
                  <a:rPr lang="en-UG" dirty="0"/>
                  <a:t>The force per unit length between two long parallel wires is: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G" smtClean="0"/>
                          </m:ctrlPr>
                        </m:fPr>
                        <m:num>
                          <m:r>
                            <a:rPr lang="en-UG" i="1"/>
                            <m:t>𝐹</m:t>
                          </m:r>
                        </m:num>
                        <m:den>
                          <m:r>
                            <a:rPr lang="en-UG" i="1"/>
                            <m:t>𝐿</m:t>
                          </m:r>
                        </m:den>
                      </m:f>
                      <m:r>
                        <a:rPr lang="en-UG"/>
                        <m:t>=</m:t>
                      </m:r>
                      <m:f>
                        <m:fPr>
                          <m:ctrlPr>
                            <a:rPr lang="en-UG" i="1"/>
                          </m:ctrlPr>
                        </m:fPr>
                        <m:num>
                          <m:sSub>
                            <m:sSubPr>
                              <m:ctrlPr>
                                <a:rPr lang="en-UG" i="1"/>
                              </m:ctrlPr>
                            </m:sSubPr>
                            <m:e>
                              <m:r>
                                <a:rPr lang="en-UG" i="1"/>
                                <m:t>𝜇</m:t>
                              </m:r>
                            </m:e>
                            <m:sub>
                              <m:r>
                                <a:rPr lang="en-UG"/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G" i="1"/>
                              </m:ctrlPr>
                            </m:sSubPr>
                            <m:e>
                              <m:r>
                                <a:rPr lang="en-UG" i="1"/>
                                <m:t>𝐼</m:t>
                              </m:r>
                            </m:e>
                            <m:sub>
                              <m:r>
                                <a:rPr lang="en-UG"/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G" i="1"/>
                              </m:ctrlPr>
                            </m:sSubPr>
                            <m:e>
                              <m:r>
                                <a:rPr lang="en-UG" i="1"/>
                                <m:t>𝐼</m:t>
                              </m:r>
                            </m:e>
                            <m:sub>
                              <m:r>
                                <a:rPr lang="en-UG"/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G"/>
                            <m:t>2</m:t>
                          </m:r>
                          <m:r>
                            <a:rPr lang="en-UG" i="1"/>
                            <m:t>𝜋</m:t>
                          </m:r>
                          <m:r>
                            <a:rPr lang="en-UG" i="1"/>
                            <m:t>𝑑</m:t>
                          </m:r>
                        </m:den>
                      </m:f>
                    </m:oMath>
                  </m:oMathPara>
                </a14:m>
                <a:endParaRPr lang="en-UG" dirty="0"/>
              </a:p>
              <a:p>
                <a:pPr>
                  <a:buNone/>
                </a:pPr>
                <a:endParaRPr lang="en-UG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C588DB5-1F15-9425-D0E4-B849425C1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62" y="1861111"/>
                <a:ext cx="7860523" cy="2826928"/>
              </a:xfrm>
              <a:prstGeom prst="rect">
                <a:avLst/>
              </a:prstGeom>
              <a:blipFill>
                <a:blip r:embed="rId2"/>
                <a:stretch>
                  <a:fillRect l="-620" t="-1078" r="-853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 descr="Force on parallel current carrying conductors">
            <a:extLst>
              <a:ext uri="{FF2B5EF4-FFF2-40B4-BE49-F238E27FC236}">
                <a16:creationId xmlns:a16="http://schemas.microsoft.com/office/drawing/2014/main" id="{0F6E4DE1-437A-CD69-CFE7-5F72050DB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314" y="3289670"/>
            <a:ext cx="4049486" cy="277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19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9852-EA6E-34F7-2D34-8C7D0450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 Motors 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6F28F6-9BE2-2F1A-F36C-1ED29D6E02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2015732"/>
                <a:ext cx="9603275" cy="3806917"/>
              </a:xfrm>
            </p:spPr>
            <p:txBody>
              <a:bodyPr/>
              <a:lstStyle/>
              <a:p>
                <a:r>
                  <a:rPr lang="en-US" dirty="0"/>
                  <a:t>Current in magnetic field       torque        rotation</a:t>
                </a:r>
              </a:p>
              <a:p>
                <a:r>
                  <a:rPr lang="en-US" dirty="0"/>
                  <a:t>Torque:</a:t>
                </a:r>
              </a:p>
              <a:p>
                <a:pPr marL="0" indent="0">
                  <a:buNone/>
                </a:pPr>
                <a:r>
                  <a:rPr lang="en-US" b="1" dirty="0"/>
                  <a:t>T</a:t>
                </a:r>
                <a:r>
                  <a:rPr lang="en-UG" b="1" dirty="0" err="1"/>
                  <a:t>orque</a:t>
                </a:r>
                <a:r>
                  <a:rPr lang="en-UG" dirty="0"/>
                  <a:t> is the turning effect of a force about an axis or pivot point. It determines how effectively a force can rotate an object.</a:t>
                </a:r>
              </a:p>
              <a:p>
                <a14:m>
                  <m:oMath xmlns:m="http://schemas.openxmlformats.org/officeDocument/2006/math">
                    <m:r>
                      <a:rPr lang="en-UG" i="1"/>
                      <m:t>𝜏</m:t>
                    </m:r>
                    <m:r>
                      <a:rPr lang="en-UG"/>
                      <m:t>=</m:t>
                    </m:r>
                    <m:r>
                      <a:rPr lang="en-UG" i="1"/>
                      <m:t>𝑟𝐹</m:t>
                    </m:r>
                    <m:r>
                      <m:rPr>
                        <m:sty m:val="p"/>
                      </m:rPr>
                      <a:rPr lang="en-UG"/>
                      <m:t>sin</m:t>
                    </m:r>
                    <m:r>
                      <a:rPr lang="en-UG"/>
                      <m:t>⁡</m:t>
                    </m:r>
                    <m:d>
                      <m:dPr>
                        <m:ctrlPr>
                          <a:rPr lang="en-UG" i="1"/>
                        </m:ctrlPr>
                      </m:dPr>
                      <m:e>
                        <m:r>
                          <a:rPr lang="en-UG" i="1"/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Back – EMF opposes motion (</a:t>
                </a:r>
                <a:r>
                  <a:rPr lang="en-US" dirty="0" err="1"/>
                  <a:t>lenz’s</a:t>
                </a:r>
                <a:r>
                  <a:rPr lang="en-US" dirty="0"/>
                  <a:t> law)   </a:t>
                </a:r>
                <a:endParaRPr lang="en-U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6F28F6-9BE2-2F1A-F36C-1ED29D6E02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2015732"/>
                <a:ext cx="9603275" cy="3806917"/>
              </a:xfrm>
              <a:blipFill>
                <a:blip r:embed="rId2"/>
                <a:stretch>
                  <a:fillRect l="-635" t="-160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D2A616-55BC-160D-E5C7-ACAC8FF05AFA}"/>
              </a:ext>
            </a:extLst>
          </p:cNvPr>
          <p:cNvCxnSpPr>
            <a:cxnSpLocks/>
          </p:cNvCxnSpPr>
          <p:nvPr/>
        </p:nvCxnSpPr>
        <p:spPr>
          <a:xfrm>
            <a:off x="4379878" y="2313760"/>
            <a:ext cx="308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C8BA35-68AE-5103-41A6-B25D96A99EA6}"/>
              </a:ext>
            </a:extLst>
          </p:cNvPr>
          <p:cNvCxnSpPr>
            <a:cxnSpLocks/>
          </p:cNvCxnSpPr>
          <p:nvPr/>
        </p:nvCxnSpPr>
        <p:spPr>
          <a:xfrm>
            <a:off x="5574252" y="2297679"/>
            <a:ext cx="4077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34EB363-1301-83B2-4EEC-1A050A346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3614057"/>
            <a:ext cx="5250541" cy="216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4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D41F-58A5-2945-8A44-96DBF014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Faraday’s Law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37C8E-29BF-80BD-9DD2-66F920FA9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Changing magnetic flux      induced EMF</a:t>
                </a:r>
              </a:p>
              <a:p>
                <a:r>
                  <a:rPr lang="en-US" dirty="0"/>
                  <a:t>Magnetic flux:</a:t>
                </a:r>
              </a:p>
              <a:p>
                <a:pPr marL="0" indent="0">
                  <a:buNone/>
                </a:pPr>
                <a:r>
                  <a:rPr lang="en-UG" dirty="0"/>
                  <a:t>Magnetic flux measures the amount of magnetic field passing through a surface.</a:t>
                </a:r>
              </a:p>
              <a:p>
                <a:pPr marL="0" indent="0">
                  <a:buNone/>
                </a:pPr>
                <a:r>
                  <a:rPr lang="en-UG" b="1" dirty="0"/>
                  <a:t>Formula:</a:t>
                </a:r>
                <a:endParaRPr lang="en-UG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G"/>
                      <m:t>Φ</m:t>
                    </m:r>
                    <m:r>
                      <a:rPr lang="en-UG"/>
                      <m:t>=</m:t>
                    </m:r>
                    <m:r>
                      <a:rPr lang="en-UG" i="1"/>
                      <m:t>𝐵𝐴</m:t>
                    </m:r>
                    <m:func>
                      <m:funcPr>
                        <m:ctrlPr>
                          <a:rPr lang="en-UG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G"/>
                          <m:t>cos</m:t>
                        </m:r>
                      </m:fName>
                      <m:e>
                        <m:r>
                          <a:rPr lang="en-UG" i="1"/>
                          <m:t>𝜃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b="1" dirty="0"/>
                  <a:t>F</a:t>
                </a:r>
                <a:r>
                  <a:rPr lang="en-UG" b="1" dirty="0" err="1"/>
                  <a:t>araday’s</a:t>
                </a:r>
                <a:r>
                  <a:rPr lang="en-UG" b="1" dirty="0"/>
                  <a:t> Law</a:t>
                </a:r>
                <a:r>
                  <a:rPr lang="en-UG" dirty="0"/>
                  <a:t> states that an electromotive force (</a:t>
                </a:r>
                <a:r>
                  <a:rPr lang="en-UG" b="1" dirty="0"/>
                  <a:t>EMF</a:t>
                </a:r>
                <a:r>
                  <a:rPr lang="en-UG" dirty="0"/>
                  <a:t>) is induced in a circuit whenever the </a:t>
                </a:r>
                <a:r>
                  <a:rPr lang="en-UG" b="1" dirty="0"/>
                  <a:t>magnetic flux through the circuit changes</a:t>
                </a:r>
                <a:r>
                  <a:rPr lang="en-UG" dirty="0"/>
                  <a:t>.</a:t>
                </a:r>
              </a:p>
              <a:p>
                <a:pPr marL="0" indent="0">
                  <a:buNone/>
                </a:pPr>
                <a:r>
                  <a:rPr lang="en-UG" b="1" dirty="0"/>
                  <a:t>Formula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G" b="0"/>
                      <m:t>EMF</m:t>
                    </m:r>
                    <m:r>
                      <a:rPr lang="en-UG"/>
                      <m:t>=−</m:t>
                    </m:r>
                    <m:r>
                      <a:rPr lang="en-UG" i="1"/>
                      <m:t>𝑁</m:t>
                    </m:r>
                    <m:f>
                      <m:fPr>
                        <m:ctrlPr>
                          <a:rPr lang="en-UG" i="1"/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G"/>
                          <m:t>ΔΦ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G"/>
                          <m:t>Δ</m:t>
                        </m:r>
                        <m:r>
                          <a:rPr lang="en-UG" i="1"/>
                          <m:t>𝑡</m:t>
                        </m:r>
                      </m:den>
                    </m:f>
                  </m:oMath>
                </a14:m>
                <a:endParaRPr lang="en-UG" b="0" dirty="0"/>
              </a:p>
              <a:p>
                <a:pPr marL="0" indent="0">
                  <a:buNone/>
                </a:pPr>
                <a:endParaRPr lang="en-UG" dirty="0"/>
              </a:p>
              <a:p>
                <a:endParaRPr lang="en-U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37C8E-29BF-80BD-9DD2-66F920FA9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7" t="-530" r="-127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53D20A6-B4A8-E052-36CE-0F64E8AFBD6F}"/>
              </a:ext>
            </a:extLst>
          </p:cNvPr>
          <p:cNvCxnSpPr>
            <a:cxnSpLocks/>
          </p:cNvCxnSpPr>
          <p:nvPr/>
        </p:nvCxnSpPr>
        <p:spPr>
          <a:xfrm>
            <a:off x="3702733" y="2180126"/>
            <a:ext cx="275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60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97D6-D5ED-F2FA-15D2-2492549F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688405"/>
            <a:ext cx="9603275" cy="1049235"/>
          </a:xfrm>
        </p:spPr>
        <p:txBody>
          <a:bodyPr/>
          <a:lstStyle/>
          <a:p>
            <a:r>
              <a:rPr lang="en-US" dirty="0"/>
              <a:t>Lenz’s Law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4F16E-F486-4147-FC61-BD793BF3BA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G" b="1" dirty="0"/>
                  <a:t>Lenz’s Law</a:t>
                </a:r>
                <a:r>
                  <a:rPr lang="en-UG" dirty="0"/>
                  <a:t> states that the direction of the induced current is always such that it </a:t>
                </a:r>
                <a:r>
                  <a:rPr lang="en-UG" b="1" dirty="0"/>
                  <a:t>opposes the change in magnetic flux</a:t>
                </a:r>
                <a:r>
                  <a:rPr lang="en-UG" dirty="0"/>
                  <a:t> that produced it.</a:t>
                </a:r>
              </a:p>
              <a:p>
                <a:r>
                  <a:rPr lang="en-UG" dirty="0"/>
                  <a:t>This law explains the </a:t>
                </a:r>
                <a:r>
                  <a:rPr lang="en-UG" b="1" dirty="0"/>
                  <a:t>negative sign</a:t>
                </a:r>
                <a:r>
                  <a:rPr lang="en-UG" dirty="0"/>
                  <a:t> in Faraday’s Law: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G" b="0"/>
                      <m:t>EMF</m:t>
                    </m:r>
                    <m:r>
                      <a:rPr lang="en-UG"/>
                      <m:t>=−</m:t>
                    </m:r>
                    <m:r>
                      <a:rPr lang="en-UG" i="1"/>
                      <m:t>𝑁</m:t>
                    </m:r>
                    <m:f>
                      <m:fPr>
                        <m:ctrlPr>
                          <a:rPr lang="en-UG" i="1"/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G"/>
                          <m:t>ΔΦ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G"/>
                          <m:t>Δ</m:t>
                        </m:r>
                        <m:r>
                          <a:rPr lang="en-UG" i="1"/>
                          <m:t>𝑡</m:t>
                        </m:r>
                      </m:den>
                    </m:f>
                  </m:oMath>
                </a14:m>
                <a:endParaRPr lang="en-UG" b="0" dirty="0"/>
              </a:p>
              <a:p>
                <a:pPr marL="0" indent="0">
                  <a:buNone/>
                </a:pPr>
                <a:endParaRPr lang="en-U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4F16E-F486-4147-FC61-BD793BF3BA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77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E38BCDC-A67F-33D3-5E90-6B2695933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94399" y="3316389"/>
            <a:ext cx="4903237" cy="2197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3BC545-2646-8302-DAB9-4A08707B798C}"/>
              </a:ext>
            </a:extLst>
          </p:cNvPr>
          <p:cNvSpPr txBox="1"/>
          <p:nvPr/>
        </p:nvSpPr>
        <p:spPr>
          <a:xfrm>
            <a:off x="5994399" y="5644383"/>
            <a:ext cx="4903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G" sz="900">
                <a:hlinkClick r:id="rId4" tooltip="https://www.flickr.com/photos/coachrobbo/2712161775"/>
              </a:rPr>
              <a:t>This Photo</a:t>
            </a:r>
            <a:r>
              <a:rPr lang="en-UG" sz="900"/>
              <a:t> by Unknown Author is licensed under </a:t>
            </a:r>
            <a:r>
              <a:rPr lang="en-UG" sz="900">
                <a:hlinkClick r:id="rId5" tooltip="https://creativecommons.org/licenses/by-nc-sa/3.0/"/>
              </a:rPr>
              <a:t>CC BY-SA-NC</a:t>
            </a:r>
            <a:endParaRPr lang="en-UG" sz="900"/>
          </a:p>
        </p:txBody>
      </p:sp>
    </p:spTree>
    <p:extLst>
      <p:ext uri="{BB962C8B-B14F-4D97-AF65-F5344CB8AC3E}">
        <p14:creationId xmlns:p14="http://schemas.microsoft.com/office/powerpoint/2010/main" val="258590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04AD-D5E5-14FC-18E0-1B637834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Faraday’s Law</a:t>
            </a:r>
            <a:endParaRPr lang="en-U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736B002D-5314-7C78-845E-21C7996F23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G" dirty="0"/>
                  <a:t>A coil with </a:t>
                </a:r>
                <a:r>
                  <a:rPr lang="en-UG" b="1" dirty="0"/>
                  <a:t>100 turns</a:t>
                </a:r>
                <a:r>
                  <a:rPr lang="en-UG" dirty="0"/>
                  <a:t> experiences a change in magnetic flux from </a:t>
                </a:r>
                <a:r>
                  <a:rPr lang="en-UG" b="1" dirty="0"/>
                  <a:t>0.02 Wb</a:t>
                </a:r>
                <a:r>
                  <a:rPr lang="en-UG" dirty="0"/>
                  <a:t> to </a:t>
                </a:r>
                <a:r>
                  <a:rPr lang="en-UG" b="1" dirty="0"/>
                  <a:t>0.08 Wb</a:t>
                </a:r>
                <a:r>
                  <a:rPr lang="en-UG" dirty="0"/>
                  <a:t> in </a:t>
                </a:r>
                <a:r>
                  <a:rPr lang="en-UG" b="1" dirty="0"/>
                  <a:t>0.5 s</a:t>
                </a:r>
                <a:r>
                  <a:rPr lang="en-UG" dirty="0"/>
                  <a:t>.</a:t>
                </a:r>
              </a:p>
              <a:p>
                <a:r>
                  <a:rPr lang="en-UG" b="1" dirty="0"/>
                  <a:t>Find the induced EMF.</a:t>
                </a:r>
                <a:endParaRPr lang="en-UG" dirty="0"/>
              </a:p>
              <a:p>
                <a:r>
                  <a:rPr lang="en-UG" b="1" dirty="0"/>
                  <a:t>Solution:</a:t>
                </a:r>
                <a:endParaRPr lang="en-UG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G"/>
                      <m:t>Δ</m:t>
                    </m:r>
                    <m:sSub>
                      <m:sSubPr>
                        <m:ctrlPr>
                          <a:rPr lang="en-UG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G"/>
                          <m:t>Φ</m:t>
                        </m:r>
                      </m:e>
                      <m:sub>
                        <m:r>
                          <a:rPr lang="en-UG" i="1"/>
                          <m:t>𝐵</m:t>
                        </m:r>
                      </m:sub>
                    </m:sSub>
                    <m:r>
                      <a:rPr lang="en-UG"/>
                      <m:t>=0.08−0.02=0.06</m:t>
                    </m:r>
                    <m:r>
                      <m:rPr>
                        <m:nor/>
                      </m:rPr>
                      <a:rPr lang="en-UG" i="1"/>
                      <m:t> </m:t>
                    </m:r>
                    <m:r>
                      <m:rPr>
                        <m:nor/>
                      </m:rPr>
                      <a:rPr lang="en-UG" i="1"/>
                      <m:t>Wb</m:t>
                    </m:r>
                  </m:oMath>
                </a14:m>
                <a:endParaRPr lang="en-UG" b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G" b="0"/>
                      <m:t>EMF</m:t>
                    </m:r>
                    <m:r>
                      <a:rPr lang="en-UG"/>
                      <m:t>=−100×</m:t>
                    </m:r>
                    <m:f>
                      <m:fPr>
                        <m:ctrlPr>
                          <a:rPr lang="en-UG" i="1"/>
                        </m:ctrlPr>
                      </m:fPr>
                      <m:num>
                        <m:r>
                          <a:rPr lang="en-UG"/>
                          <m:t>0.06</m:t>
                        </m:r>
                      </m:num>
                      <m:den>
                        <m:r>
                          <a:rPr lang="en-UG"/>
                          <m:t>0.5</m:t>
                        </m:r>
                      </m:den>
                    </m:f>
                  </m:oMath>
                </a14:m>
                <a:endParaRPr lang="en-UG" b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G" b="0"/>
                      <m:t>EMF</m:t>
                    </m:r>
                    <m:r>
                      <a:rPr lang="en-UG"/>
                      <m:t>=−12</m:t>
                    </m:r>
                    <m:r>
                      <m:rPr>
                        <m:nor/>
                      </m:rPr>
                      <a:rPr lang="en-UG" i="1"/>
                      <m:t> </m:t>
                    </m:r>
                    <m:r>
                      <m:rPr>
                        <m:nor/>
                      </m:rPr>
                      <a:rPr lang="en-UG" i="1"/>
                      <m:t>V</m:t>
                    </m:r>
                  </m:oMath>
                </a14:m>
                <a:endParaRPr lang="en-UG" b="0" dirty="0"/>
              </a:p>
              <a:p>
                <a:r>
                  <a:rPr lang="en-UG" b="1" dirty="0"/>
                  <a:t>Answer:</a:t>
                </a:r>
                <a:endParaRPr lang="en-UG" dirty="0"/>
              </a:p>
              <a:p>
                <a14:m>
                  <m:oMath xmlns:m="http://schemas.openxmlformats.org/officeDocument/2006/math">
                    <m:r>
                      <a:rPr lang="en-UG"/>
                      <m:t>∣</m:t>
                    </m:r>
                    <m:r>
                      <m:rPr>
                        <m:nor/>
                      </m:rPr>
                      <a:rPr lang="en-UG" i="1"/>
                      <m:t>EMF</m:t>
                    </m:r>
                    <m:r>
                      <a:rPr lang="en-UG"/>
                      <m:t>∣=12</m:t>
                    </m:r>
                    <m:r>
                      <m:rPr>
                        <m:nor/>
                      </m:rPr>
                      <a:rPr lang="en-UG" i="1"/>
                      <m:t> </m:t>
                    </m:r>
                    <m:r>
                      <m:rPr>
                        <m:nor/>
                      </m:rPr>
                      <a:rPr lang="en-UG" i="1"/>
                      <m:t>V</m:t>
                    </m:r>
                  </m:oMath>
                </a14:m>
                <a:endParaRPr lang="en-UG" b="0" dirty="0"/>
              </a:p>
              <a:p>
                <a:endParaRPr lang="en-UG" dirty="0"/>
              </a:p>
            </p:txBody>
          </p:sp>
        </mc:Choice>
        <mc:Fallback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736B002D-5314-7C78-845E-21C7996F2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7" t="-707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86885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141</TotalTime>
  <Words>576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Magnetic Forces Fields &amp; Faraday’s Law</vt:lpstr>
      <vt:lpstr>Introduction to Magnetism</vt:lpstr>
      <vt:lpstr>Magnetic Force on charge</vt:lpstr>
      <vt:lpstr>Right- Hand Rule</vt:lpstr>
      <vt:lpstr>Charged Particle in B Field </vt:lpstr>
      <vt:lpstr>Magnetic Field from Currents</vt:lpstr>
      <vt:lpstr>Force Between Two Currents </vt:lpstr>
      <vt:lpstr>Electric Motors </vt:lpstr>
      <vt:lpstr>Faraday’s Law</vt:lpstr>
      <vt:lpstr>Lenz’s Law</vt:lpstr>
      <vt:lpstr>Example: Faraday’s Law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h</dc:creator>
  <cp:lastModifiedBy>a h</cp:lastModifiedBy>
  <cp:revision>2</cp:revision>
  <dcterms:created xsi:type="dcterms:W3CDTF">2026-06-16T06:53:45Z</dcterms:created>
  <dcterms:modified xsi:type="dcterms:W3CDTF">2026-06-16T09:57:29Z</dcterms:modified>
</cp:coreProperties>
</file>